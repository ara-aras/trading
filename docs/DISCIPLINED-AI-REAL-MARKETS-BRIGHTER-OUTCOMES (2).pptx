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Nunito"/>
      <p:regular r:id="rId201314"/>
    </p:embeddedFont>
    <p:embeddedFont>
      <p:font typeface="Nunito SemiBold"/>
      <p:regular r:id="rId201315"/>
    </p:embeddedFont>
    <p:embeddedFont>
      <p:font typeface="Nunito Bold"/>
      <p:regular r:id="rId201316"/>
    </p:embeddedFont>
    <p:embeddedFont>
      <p:font typeface="Nunito Black"/>
      <p:regular r:id="rId201317"/>
    </p:embeddedFont>
    <p:embeddedFont>
      <p:font typeface="PT Sans"/>
      <p:regular r:id="rId201318"/>
    </p:embeddedFont>
    <p:embeddedFont>
      <p:font typeface="PT Sans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image" Target="../media/image-4-10.png"/><Relationship Id="rId11" Type="http://schemas.openxmlformats.org/officeDocument/2006/relationships/image" Target="../media/image-4-11.sv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3-10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519535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n BRIGHTLINE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2294533"/>
            <a:ext cx="10795524" cy="1416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450" dirty="0">
                <a:solidFill>
                  <a:srgbClr val="FFD7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DISCIPLINED AI. REAL MARKETS. BRIGHTER OUTCOMES.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393293" y="3973116"/>
            <a:ext cx="11405108" cy="223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Autonomous Options Trading Agent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98086" y="4436368"/>
            <a:ext cx="10795524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98086" y="4695329"/>
            <a:ext cx="10795524" cy="643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3000"/>
              </a:lnSpc>
              <a:spcAft>
                <a:spcPts val="15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Alpaca AI Trading Agents Hackathon × lablab.ai — Options Alpha Track — Team AAF11</a:t>
            </a:r>
            <a:endParaRPr lang="en-US" sz="10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1E90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Prateek D Shriyan  ·  Rafan Ahamad Sheik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505619"/>
            <a:ext cx="811391" cy="198834"/>
          </a:xfrm>
          <a:prstGeom prst="roundRect">
            <a:avLst>
              <a:gd name="adj" fmla="val 49999"/>
            </a:avLst>
          </a:prstGeom>
          <a:solidFill>
            <a:srgbClr val="483304"/>
          </a:solidFill>
          <a:ln/>
        </p:spPr>
      </p:sp>
      <p:sp>
        <p:nvSpPr>
          <p:cNvPr id="3" name="Text 1"/>
          <p:cNvSpPr/>
          <p:nvPr/>
        </p:nvSpPr>
        <p:spPr>
          <a:xfrm>
            <a:off x="776566" y="544810"/>
            <a:ext cx="1264015" cy="12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98086" y="743645"/>
            <a:ext cx="10795524" cy="38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AI CAN TRADE. BUT WHO </a:t>
            </a:r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D7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CONTROLS</a:t>
            </a:r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THE TRADE?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98086" y="1275953"/>
            <a:ext cx="11405108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When an AI model reasons directly to the broker, every reasoning failure becomes a live financial risk. The gap between a model's output and a disciplined execution layer is where most AI trading systems break down.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98086" y="1643459"/>
            <a:ext cx="727751" cy="198834"/>
          </a:xfrm>
          <a:prstGeom prst="roundRect">
            <a:avLst>
              <a:gd name="adj" fmla="val 49999"/>
            </a:avLst>
          </a:prstGeom>
          <a:noFill/>
          <a:ln w="12700">
            <a:solidFill>
              <a:srgbClr val="F2B4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6566" y="1682651"/>
            <a:ext cx="1180376" cy="12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DANGEROUS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952724"/>
            <a:ext cx="5015779" cy="22002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57333" y="3645584"/>
            <a:ext cx="1021901" cy="12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AI reasons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903871" y="3811858"/>
            <a:ext cx="1128826" cy="95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1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Model outputs trade decisions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3432876" y="2179128"/>
            <a:ext cx="1021901" cy="12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Broker executes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379413" y="2345403"/>
            <a:ext cx="1128826" cy="190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1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Immediate trades with no guardrails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5945237" y="1533029"/>
            <a:ext cx="5648878" cy="2995712"/>
          </a:xfrm>
          <a:prstGeom prst="roundRect">
            <a:avLst>
              <a:gd name="adj" fmla="val 10488"/>
            </a:avLst>
          </a:prstGeom>
          <a:solidFill>
            <a:srgbClr val="001A4D">
              <a:alpha val="75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6076103" y="1643459"/>
            <a:ext cx="747595" cy="198834"/>
          </a:xfrm>
          <a:prstGeom prst="roundRect">
            <a:avLst>
              <a:gd name="adj" fmla="val 49999"/>
            </a:avLst>
          </a:prstGeom>
          <a:solidFill>
            <a:srgbClr val="483304"/>
          </a:solidFill>
          <a:ln/>
        </p:spPr>
      </p:sp>
      <p:sp>
        <p:nvSpPr>
          <p:cNvPr id="15" name="Text 12"/>
          <p:cNvSpPr/>
          <p:nvPr/>
        </p:nvSpPr>
        <p:spPr>
          <a:xfrm>
            <a:off x="6154584" y="1682651"/>
            <a:ext cx="1200219" cy="12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ENGINEERED</a:t>
            </a:r>
            <a:endParaRPr lang="en-US" sz="8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103" y="1952724"/>
            <a:ext cx="5387146" cy="246558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201068" y="3746974"/>
            <a:ext cx="1011398" cy="366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Broker Executes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8926429" y="3838548"/>
            <a:ext cx="1011398" cy="18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Risk Controls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7658718" y="3838548"/>
            <a:ext cx="1011398" cy="18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Rules Verify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6363297" y="3838548"/>
            <a:ext cx="1011398" cy="18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AI Reasons</a:t>
            </a:r>
            <a:endParaRPr lang="en-US" sz="11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4639171"/>
            <a:ext cx="3533091" cy="120441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366407" y="4725491"/>
            <a:ext cx="196349" cy="245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848001" y="5149056"/>
            <a:ext cx="3233260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D7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HALLUCINATION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848001" y="5400377"/>
            <a:ext cx="3233260" cy="293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Model may quote or invent information never supplied to it in the context window.</a:t>
            </a:r>
            <a:endParaRPr lang="en-US" sz="8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29302" y="4639171"/>
            <a:ext cx="3533091" cy="120441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997623" y="4725491"/>
            <a:ext cx="196349" cy="245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4479218" y="5149056"/>
            <a:ext cx="3233260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D7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CONSTRAINT FAILURE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479218" y="5400377"/>
            <a:ext cx="3233260" cy="293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Model can misunderstand or silently ignore deterministic trading constraints.</a:t>
            </a:r>
            <a:endParaRPr lang="en-US" sz="8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60518" y="4639171"/>
            <a:ext cx="3533091" cy="120441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628840" y="4725491"/>
            <a:ext cx="196349" cy="245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8110434" y="5149056"/>
            <a:ext cx="3233260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D7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RISK FAILURE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8110434" y="5400377"/>
            <a:ext cx="3233260" cy="293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Position sizing must never depend on probabilistic language-model reasoning.</a:t>
            </a:r>
            <a:endParaRPr lang="en-US" sz="800" dirty="0"/>
          </a:p>
        </p:txBody>
      </p:sp>
      <p:sp>
        <p:nvSpPr>
          <p:cNvPr id="33" name="Shape 26"/>
          <p:cNvSpPr/>
          <p:nvPr/>
        </p:nvSpPr>
        <p:spPr>
          <a:xfrm>
            <a:off x="698086" y="5954018"/>
            <a:ext cx="10795524" cy="398363"/>
          </a:xfrm>
          <a:prstGeom prst="roundRect">
            <a:avLst>
              <a:gd name="adj" fmla="val 49292"/>
            </a:avLst>
          </a:prstGeom>
          <a:solidFill>
            <a:srgbClr val="785507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952" y="6101060"/>
            <a:ext cx="130866" cy="10467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090684" y="6084788"/>
            <a:ext cx="10881643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AI should reason about the market. It should not control the boundaries of the system.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479921"/>
            <a:ext cx="476139" cy="132457"/>
          </a:xfrm>
          <a:prstGeom prst="roundRect">
            <a:avLst>
              <a:gd name="adj" fmla="val 49999"/>
            </a:avLst>
          </a:prstGeom>
          <a:solidFill>
            <a:srgbClr val="483304"/>
          </a:solidFill>
          <a:ln/>
        </p:spPr>
      </p:sp>
      <p:sp>
        <p:nvSpPr>
          <p:cNvPr id="3" name="Text 1"/>
          <p:cNvSpPr/>
          <p:nvPr/>
        </p:nvSpPr>
        <p:spPr>
          <a:xfrm>
            <a:off x="750373" y="506016"/>
            <a:ext cx="981150" cy="8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BRIGHTLINE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698086" y="629741"/>
            <a:ext cx="1079552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MARKET DATA IN. 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D7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DISCIPLINED ACTION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OUT.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98086" y="951805"/>
            <a:ext cx="11405108" cy="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An autonomous options-trading agent engineered to separate AI reasoning from deterministic trading authority. Every component has a single, auditable responsibility.</a:t>
            </a:r>
            <a:endParaRPr lang="en-US" sz="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920" y="1084560"/>
            <a:ext cx="10449755" cy="39213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14221" y="4062886"/>
            <a:ext cx="1576134" cy="28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Risk Gate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27860" y="4062886"/>
            <a:ext cx="1576134" cy="28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Rulebook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352294" y="4062886"/>
            <a:ext cx="1576134" cy="28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AI Reasoning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376729" y="4062886"/>
            <a:ext cx="1576134" cy="28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Quant Signals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357981" y="4062886"/>
            <a:ext cx="1576134" cy="28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Market Data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98086" y="5098455"/>
            <a:ext cx="5291303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Core Capabilities</a:t>
            </a:r>
            <a:endParaRPr lang="en-US" sz="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5275759"/>
            <a:ext cx="218177" cy="21818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8086" y="5548412"/>
            <a:ext cx="2618417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REAL DATA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98086" y="5720259"/>
            <a:ext cx="2618417" cy="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Live prices + option chains via Alpaca Market Data API</a:t>
            </a:r>
            <a:endParaRPr lang="en-US" sz="5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70972" y="5275759"/>
            <a:ext cx="218177" cy="2181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370972" y="5548412"/>
            <a:ext cx="2618417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REAL SIGNALS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3370972" y="5720259"/>
            <a:ext cx="2618417" cy="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P(Up), IV Rank, VRP, Market Regime, Days to Earnings</a:t>
            </a:r>
            <a:endParaRPr lang="en-US" sz="5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086" y="5891213"/>
            <a:ext cx="218177" cy="21818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8086" y="6163866"/>
            <a:ext cx="2618417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REAL AGENTS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698086" y="6335712"/>
            <a:ext cx="2618417" cy="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Groq (LIVE) + Featherless (SHADOW) + Mistral (SHADOW)</a:t>
            </a:r>
            <a:endParaRPr lang="en-US" sz="5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70972" y="5891213"/>
            <a:ext cx="218177" cy="21818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370972" y="6163866"/>
            <a:ext cx="2618417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REAL EXECUTION</a:t>
            </a:r>
            <a:endParaRPr lang="en-US" sz="800" dirty="0"/>
          </a:p>
        </p:txBody>
      </p:sp>
      <p:sp>
        <p:nvSpPr>
          <p:cNvPr id="24" name="Text 17"/>
          <p:cNvSpPr/>
          <p:nvPr/>
        </p:nvSpPr>
        <p:spPr>
          <a:xfrm>
            <a:off x="3370972" y="6335712"/>
            <a:ext cx="2618417" cy="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Alpaca CLI + atomic MLEG order construction</a:t>
            </a:r>
            <a:endParaRPr lang="en-US" sz="500" dirty="0"/>
          </a:p>
        </p:txBody>
      </p:sp>
      <p:sp>
        <p:nvSpPr>
          <p:cNvPr id="25" name="Shape 18"/>
          <p:cNvSpPr/>
          <p:nvPr/>
        </p:nvSpPr>
        <p:spPr>
          <a:xfrm>
            <a:off x="6145753" y="5054898"/>
            <a:ext cx="5417109" cy="1413570"/>
          </a:xfrm>
          <a:prstGeom prst="roundRect">
            <a:avLst>
              <a:gd name="adj" fmla="val 14817"/>
            </a:avLst>
          </a:prstGeom>
          <a:solidFill>
            <a:srgbClr val="001A4D">
              <a:alpha val="75000"/>
            </a:srgbClr>
          </a:solidFill>
          <a:ln/>
        </p:spPr>
      </p:sp>
      <p:sp>
        <p:nvSpPr>
          <p:cNvPr id="26" name="Text 19"/>
          <p:cNvSpPr/>
          <p:nvPr/>
        </p:nvSpPr>
        <p:spPr>
          <a:xfrm>
            <a:off x="6232964" y="5098455"/>
            <a:ext cx="5242687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Trading Universe</a:t>
            </a:r>
            <a:endParaRPr lang="en-US" sz="800" dirty="0"/>
          </a:p>
        </p:txBody>
      </p:sp>
      <p:sp>
        <p:nvSpPr>
          <p:cNvPr id="27" name="Shape 20"/>
          <p:cNvSpPr/>
          <p:nvPr/>
        </p:nvSpPr>
        <p:spPr>
          <a:xfrm>
            <a:off x="6232964" y="5275759"/>
            <a:ext cx="1718525" cy="315416"/>
          </a:xfrm>
          <a:prstGeom prst="roundRect">
            <a:avLst>
              <a:gd name="adj" fmla="val 41503"/>
            </a:avLst>
          </a:prstGeom>
          <a:solidFill>
            <a:srgbClr val="001A4D"/>
          </a:solidFill>
          <a:ln w="6350">
            <a:solidFill>
              <a:srgbClr val="F2B42D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6326525" y="5369322"/>
            <a:ext cx="1531403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SPY</a:t>
            </a:r>
            <a:endParaRPr lang="en-US" sz="800" dirty="0"/>
          </a:p>
        </p:txBody>
      </p:sp>
      <p:sp>
        <p:nvSpPr>
          <p:cNvPr id="29" name="Shape 22"/>
          <p:cNvSpPr/>
          <p:nvPr/>
        </p:nvSpPr>
        <p:spPr>
          <a:xfrm>
            <a:off x="7995045" y="5275759"/>
            <a:ext cx="1718525" cy="315416"/>
          </a:xfrm>
          <a:prstGeom prst="roundRect">
            <a:avLst>
              <a:gd name="adj" fmla="val 41503"/>
            </a:avLst>
          </a:prstGeom>
          <a:solidFill>
            <a:srgbClr val="001A4D"/>
          </a:solidFill>
          <a:ln w="6350">
            <a:solidFill>
              <a:srgbClr val="D7425E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8088606" y="5369322"/>
            <a:ext cx="1531403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QQQ</a:t>
            </a:r>
            <a:endParaRPr lang="en-US" sz="800" dirty="0"/>
          </a:p>
        </p:txBody>
      </p:sp>
      <p:sp>
        <p:nvSpPr>
          <p:cNvPr id="31" name="Shape 24"/>
          <p:cNvSpPr/>
          <p:nvPr/>
        </p:nvSpPr>
        <p:spPr>
          <a:xfrm>
            <a:off x="9757126" y="5275759"/>
            <a:ext cx="1718525" cy="315416"/>
          </a:xfrm>
          <a:prstGeom prst="roundRect">
            <a:avLst>
              <a:gd name="adj" fmla="val 41503"/>
            </a:avLst>
          </a:prstGeom>
          <a:solidFill>
            <a:srgbClr val="001A4D"/>
          </a:solidFill>
          <a:ln w="6350">
            <a:solidFill>
              <a:srgbClr val="DD785E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9850687" y="5369322"/>
            <a:ext cx="1531403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IWM</a:t>
            </a:r>
            <a:endParaRPr lang="en-US" sz="800" dirty="0"/>
          </a:p>
        </p:txBody>
      </p:sp>
      <p:sp>
        <p:nvSpPr>
          <p:cNvPr id="33" name="Shape 26"/>
          <p:cNvSpPr/>
          <p:nvPr/>
        </p:nvSpPr>
        <p:spPr>
          <a:xfrm>
            <a:off x="6232964" y="5634732"/>
            <a:ext cx="5242687" cy="315416"/>
          </a:xfrm>
          <a:prstGeom prst="roundRect">
            <a:avLst>
              <a:gd name="adj" fmla="val 41503"/>
            </a:avLst>
          </a:prstGeom>
          <a:solidFill>
            <a:srgbClr val="001A4D"/>
          </a:solidFill>
          <a:ln w="6350">
            <a:solidFill>
              <a:srgbClr val="48A8E2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6326525" y="5728295"/>
            <a:ext cx="5055565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DIA</a:t>
            </a:r>
            <a:endParaRPr lang="en-US" sz="800" dirty="0"/>
          </a:p>
        </p:txBody>
      </p:sp>
      <p:sp>
        <p:nvSpPr>
          <p:cNvPr id="35" name="Text 28"/>
          <p:cNvSpPr/>
          <p:nvPr/>
        </p:nvSpPr>
        <p:spPr>
          <a:xfrm>
            <a:off x="6232964" y="5999162"/>
            <a:ext cx="5852272" cy="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Four liquid ETF underlyings. Broad-market coverage with deep option chains and tight spreads.</a:t>
            </a:r>
            <a:endParaRPr lang="en-US" sz="500" dirty="0"/>
          </a:p>
        </p:txBody>
      </p:sp>
      <p:sp>
        <p:nvSpPr>
          <p:cNvPr id="36" name="Shape 29"/>
          <p:cNvSpPr/>
          <p:nvPr/>
        </p:nvSpPr>
        <p:spPr>
          <a:xfrm>
            <a:off x="6232964" y="6131917"/>
            <a:ext cx="5242687" cy="205581"/>
          </a:xfrm>
          <a:prstGeom prst="roundRect">
            <a:avLst>
              <a:gd name="adj" fmla="val 49999"/>
            </a:avLst>
          </a:prstGeom>
          <a:solidFill>
            <a:srgbClr val="785507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0175" y="6195219"/>
            <a:ext cx="87211" cy="69751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494598" y="6192838"/>
            <a:ext cx="5503427" cy="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AI proposes. Python decides. Risk controls the boundary.</a:t>
            </a:r>
            <a:endParaRPr lang="en-US" sz="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520005"/>
            <a:ext cx="923307" cy="215305"/>
          </a:xfrm>
          <a:prstGeom prst="roundRect">
            <a:avLst>
              <a:gd name="adj" fmla="val 49999"/>
            </a:avLst>
          </a:prstGeom>
          <a:solidFill>
            <a:srgbClr val="483304"/>
          </a:solidFill>
          <a:ln/>
        </p:spPr>
      </p:sp>
      <p:sp>
        <p:nvSpPr>
          <p:cNvPr id="3" name="Text 1"/>
          <p:cNvSpPr/>
          <p:nvPr/>
        </p:nvSpPr>
        <p:spPr>
          <a:xfrm>
            <a:off x="783114" y="562471"/>
            <a:ext cx="136283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98086" y="781348"/>
            <a:ext cx="10795524" cy="417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ONE PIPELINE. THREE MODELS. </a:t>
            </a:r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FD7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ONE EXECUTION PATH.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98086" y="1486396"/>
            <a:ext cx="4110629" cy="208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System Flow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824534"/>
            <a:ext cx="708999" cy="850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2275" y="1966317"/>
            <a:ext cx="3286440" cy="208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SCHEDULER + MARKET DATA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522275" y="2290068"/>
            <a:ext cx="3286440" cy="164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Alpaca data feed ingested every 15 minutes</a:t>
            </a:r>
            <a:endParaRPr lang="en-US" sz="8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86" y="2675434"/>
            <a:ext cx="708999" cy="850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22275" y="2817217"/>
            <a:ext cx="3286440" cy="208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SIGNAL ENGINE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522275" y="3140968"/>
            <a:ext cx="3286440" cy="164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850" dirty="0">
                <a:solidFill>
                  <a:srgbClr val="FFD7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P(Up) · IV Rank · VRP · Regime · Days to Earnings</a:t>
            </a:r>
            <a:endParaRPr lang="en-US" sz="8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3526334"/>
            <a:ext cx="708999" cy="8509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22275" y="3668117"/>
            <a:ext cx="3286440" cy="208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3 AI MODELS IN PARALLEL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522275" y="3991868"/>
            <a:ext cx="3286440" cy="164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Same signal vector → Groq, Featherless, Mistral</a:t>
            </a:r>
            <a:endParaRPr lang="en-US" sz="8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86" y="4377234"/>
            <a:ext cx="708999" cy="8509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22275" y="4519017"/>
            <a:ext cx="3286440" cy="208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SAFETY + DECISION LAYER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522275" y="4842768"/>
            <a:ext cx="3286440" cy="164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Deterministic rulebook · Risk gate · Broker reconciliation</a:t>
            </a:r>
            <a:endParaRPr lang="en-US" sz="8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086" y="5228134"/>
            <a:ext cx="708999" cy="98028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22275" y="5369917"/>
            <a:ext cx="3286440" cy="417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ALPACA CLI → ATOMIC MLEG → AUDIT LOG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1522275" y="5902226"/>
            <a:ext cx="3286440" cy="164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One controlled execution path. Fully logged.</a:t>
            </a:r>
            <a:endParaRPr lang="en-US" sz="850" dirty="0"/>
          </a:p>
        </p:txBody>
      </p:sp>
      <p:sp>
        <p:nvSpPr>
          <p:cNvPr id="21" name="Text 14"/>
          <p:cNvSpPr/>
          <p:nvPr/>
        </p:nvSpPr>
        <p:spPr>
          <a:xfrm>
            <a:off x="5160933" y="1486396"/>
            <a:ext cx="3442110" cy="208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AI Model Roles</a:t>
            </a:r>
            <a:endParaRPr lang="en-US" sz="13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60933" y="1824534"/>
            <a:ext cx="3442110" cy="974229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397960" y="1985367"/>
            <a:ext cx="3044253" cy="208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D7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GROQ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— LIVE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5397960" y="2309118"/>
            <a:ext cx="3044253" cy="328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Primary execution model. Can submit orders. Subject to all safety and rulebook checks.</a:t>
            </a:r>
            <a:endParaRPr lang="en-US" sz="85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60933" y="2913955"/>
            <a:ext cx="3442110" cy="974229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397960" y="3074789"/>
            <a:ext cx="3044253" cy="208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E90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FEATHERLESS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— SHADOW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5397960" y="3398540"/>
            <a:ext cx="3044253" cy="328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Reasons and compares. Records agreement with Groq. Never executes.</a:t>
            </a:r>
            <a:endParaRPr lang="en-US" sz="85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60933" y="4003377"/>
            <a:ext cx="3442110" cy="974229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397960" y="4164211"/>
            <a:ext cx="3044253" cy="208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E90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MISTRAL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— SHADOW</a:t>
            </a:r>
            <a:endParaRPr lang="en-US" sz="1300" dirty="0"/>
          </a:p>
        </p:txBody>
      </p:sp>
      <p:sp>
        <p:nvSpPr>
          <p:cNvPr id="30" name="Text 20"/>
          <p:cNvSpPr/>
          <p:nvPr/>
        </p:nvSpPr>
        <p:spPr>
          <a:xfrm>
            <a:off x="5397960" y="4487962"/>
            <a:ext cx="3044253" cy="328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Independent shadow reasoning. Cross-model comparison for divergence logging.</a:t>
            </a:r>
            <a:endParaRPr lang="en-US" sz="850" dirty="0"/>
          </a:p>
        </p:txBody>
      </p:sp>
      <p:sp>
        <p:nvSpPr>
          <p:cNvPr id="31" name="Text 21"/>
          <p:cNvSpPr/>
          <p:nvPr/>
        </p:nvSpPr>
        <p:spPr>
          <a:xfrm>
            <a:off x="8955260" y="1486396"/>
            <a:ext cx="2550850" cy="208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Key Principle</a:t>
            </a:r>
            <a:endParaRPr lang="en-US" sz="1300" dirty="0"/>
          </a:p>
        </p:txBody>
      </p:sp>
      <p:sp>
        <p:nvSpPr>
          <p:cNvPr id="32" name="Shape 22"/>
          <p:cNvSpPr/>
          <p:nvPr/>
        </p:nvSpPr>
        <p:spPr>
          <a:xfrm>
            <a:off x="8955260" y="1824534"/>
            <a:ext cx="2550850" cy="1100534"/>
          </a:xfrm>
          <a:prstGeom prst="roundRect">
            <a:avLst>
              <a:gd name="adj" fmla="val 19329"/>
            </a:avLst>
          </a:prstGeom>
          <a:solidFill>
            <a:srgbClr val="785507"/>
          </a:solidFill>
          <a:ln/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97040" y="2003425"/>
            <a:ext cx="177200" cy="141784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9416021" y="1963638"/>
            <a:ext cx="1948310" cy="822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All three models receive the </a:t>
            </a:r>
            <a:pPr algn="l" indent="0" marL="0">
              <a:lnSpc>
                <a:spcPct val="121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identical signal vector</a:t>
            </a:r>
            <a:pPr algn="l" indent="0" marL="0">
              <a:lnSpc>
                <a:spcPct val="121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 Shadow models never touch the execution path.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479921"/>
            <a:ext cx="466316" cy="132457"/>
          </a:xfrm>
          <a:prstGeom prst="roundRect">
            <a:avLst>
              <a:gd name="adj" fmla="val 49999"/>
            </a:avLst>
          </a:prstGeom>
          <a:solidFill>
            <a:srgbClr val="483304"/>
          </a:solidFill>
          <a:ln/>
        </p:spPr>
      </p:sp>
      <p:sp>
        <p:nvSpPr>
          <p:cNvPr id="3" name="Text 1"/>
          <p:cNvSpPr/>
          <p:nvPr/>
        </p:nvSpPr>
        <p:spPr>
          <a:xfrm>
            <a:off x="750373" y="506016"/>
            <a:ext cx="971327" cy="8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 + SAFETY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698086" y="629741"/>
            <a:ext cx="1079552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AI PROPOSES. THE SYSTEM 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D7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VERIFIES.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98086" y="951805"/>
            <a:ext cx="11405108" cy="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Five independent stages can stop a trade. Only one controlled, audited path can start one.</a:t>
            </a:r>
            <a:endParaRPr lang="en-US" sz="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535" y="1084560"/>
            <a:ext cx="10706527" cy="46170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2944" y="4834981"/>
            <a:ext cx="2285926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Rulebook Decision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62944" y="3766210"/>
            <a:ext cx="2285926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Verification Layer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62944" y="2708234"/>
            <a:ext cx="2285926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Parallel Models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62944" y="1639462"/>
            <a:ext cx="2285926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Signal Vector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98086" y="5794177"/>
            <a:ext cx="5291303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Safety Guards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98086" y="5971480"/>
            <a:ext cx="196349" cy="196354"/>
          </a:xfrm>
          <a:prstGeom prst="ellipse">
            <a:avLst/>
          </a:prstGeom>
          <a:solidFill>
            <a:srgbClr val="00002E"/>
          </a:solidFill>
          <a:ln w="6350">
            <a:solidFill>
              <a:srgbClr val="F2B42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4647" y="5992614"/>
            <a:ext cx="123127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37991" y="6001445"/>
            <a:ext cx="5051398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SIGNAL VALIDATION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937991" y="6173291"/>
            <a:ext cx="5051398" cy="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Rejects invalid, missing, NaN, or internally inconsistent signal inputs before any model sees them.</a:t>
            </a:r>
            <a:endParaRPr lang="en-US" sz="500" dirty="0"/>
          </a:p>
        </p:txBody>
      </p:sp>
      <p:sp>
        <p:nvSpPr>
          <p:cNvPr id="16" name="Shape 13"/>
          <p:cNvSpPr/>
          <p:nvPr/>
        </p:nvSpPr>
        <p:spPr>
          <a:xfrm>
            <a:off x="698086" y="6344245"/>
            <a:ext cx="196349" cy="196354"/>
          </a:xfrm>
          <a:prstGeom prst="ellipse">
            <a:avLst/>
          </a:prstGeom>
          <a:solidFill>
            <a:srgbClr val="00002E"/>
          </a:solidFill>
          <a:ln w="6350">
            <a:solidFill>
              <a:srgbClr val="D742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4647" y="6365379"/>
            <a:ext cx="123127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2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937991" y="6374209"/>
            <a:ext cx="5051398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FAITHFULNESS CHECK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937991" y="6546056"/>
            <a:ext cx="5051398" cy="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Verifies whether figures quoted by the model were actually supplied in the prompt context.</a:t>
            </a:r>
            <a:endParaRPr lang="en-US" sz="500" dirty="0"/>
          </a:p>
        </p:txBody>
      </p:sp>
      <p:sp>
        <p:nvSpPr>
          <p:cNvPr id="20" name="Shape 17"/>
          <p:cNvSpPr/>
          <p:nvPr/>
        </p:nvSpPr>
        <p:spPr>
          <a:xfrm>
            <a:off x="698086" y="6717010"/>
            <a:ext cx="196349" cy="196354"/>
          </a:xfrm>
          <a:prstGeom prst="ellipse">
            <a:avLst/>
          </a:prstGeom>
          <a:solidFill>
            <a:srgbClr val="00002E"/>
          </a:solidFill>
          <a:ln w="6350">
            <a:solidFill>
              <a:srgbClr val="DD785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4647" y="6738144"/>
            <a:ext cx="123127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3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937991" y="6746974"/>
            <a:ext cx="5051398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CROSS-MODEL COMPARISON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937991" y="6918821"/>
            <a:ext cx="5051398" cy="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Records agreement and divergence across Groq, Featherless, and Mistral outputs for every cycle.</a:t>
            </a:r>
            <a:endParaRPr lang="en-US" sz="500" dirty="0"/>
          </a:p>
        </p:txBody>
      </p:sp>
      <p:sp>
        <p:nvSpPr>
          <p:cNvPr id="24" name="Shape 21"/>
          <p:cNvSpPr/>
          <p:nvPr/>
        </p:nvSpPr>
        <p:spPr>
          <a:xfrm>
            <a:off x="698086" y="7089775"/>
            <a:ext cx="196349" cy="196354"/>
          </a:xfrm>
          <a:prstGeom prst="ellipse">
            <a:avLst/>
          </a:prstGeom>
          <a:solidFill>
            <a:srgbClr val="00002E"/>
          </a:solidFill>
          <a:ln w="6350">
            <a:solidFill>
              <a:srgbClr val="48A8E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4647" y="7110909"/>
            <a:ext cx="123127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4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937991" y="7119739"/>
            <a:ext cx="5051398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BROKER RECONCILIATION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937991" y="7291586"/>
            <a:ext cx="5051398" cy="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Independently reads live broker state before execution — never trusts in-memory assumptions.</a:t>
            </a:r>
            <a:endParaRPr lang="en-US" sz="500" dirty="0"/>
          </a:p>
        </p:txBody>
      </p:sp>
      <p:sp>
        <p:nvSpPr>
          <p:cNvPr id="28" name="Shape 25"/>
          <p:cNvSpPr/>
          <p:nvPr/>
        </p:nvSpPr>
        <p:spPr>
          <a:xfrm>
            <a:off x="6145753" y="5750620"/>
            <a:ext cx="5417109" cy="1673721"/>
          </a:xfrm>
          <a:prstGeom prst="roundRect">
            <a:avLst>
              <a:gd name="adj" fmla="val 12514"/>
            </a:avLst>
          </a:prstGeom>
          <a:solidFill>
            <a:srgbClr val="001A4D">
              <a:alpha val="75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6232964" y="5794177"/>
            <a:ext cx="5242687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The Rulebook Principle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363831" y="6010672"/>
            <a:ext cx="5721405" cy="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rulebook is re-derived in Python directly from raw signals — not from the model's summary or paraphrase of those signals.</a:t>
            </a:r>
            <a:endParaRPr lang="en-US" sz="500" dirty="0"/>
          </a:p>
        </p:txBody>
      </p:sp>
      <p:sp>
        <p:nvSpPr>
          <p:cNvPr id="31" name="Shape 28"/>
          <p:cNvSpPr/>
          <p:nvPr/>
        </p:nvSpPr>
        <p:spPr>
          <a:xfrm>
            <a:off x="6232964" y="5971480"/>
            <a:ext cx="12700" cy="162123"/>
          </a:xfrm>
          <a:prstGeom prst="roundRect">
            <a:avLst>
              <a:gd name="adj" fmla="val 49999"/>
            </a:avLst>
          </a:prstGeom>
          <a:solidFill>
            <a:srgbClr val="F2B42D"/>
          </a:solidFill>
          <a:ln/>
        </p:spPr>
      </p:sp>
      <p:sp>
        <p:nvSpPr>
          <p:cNvPr id="32" name="Text 29"/>
          <p:cNvSpPr/>
          <p:nvPr/>
        </p:nvSpPr>
        <p:spPr>
          <a:xfrm>
            <a:off x="6232964" y="6182618"/>
            <a:ext cx="5852272" cy="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This architectural choice eliminates an entire category of hallucination risk. The model's reasoning is advisory. The Python logic is authoritative.</a:t>
            </a:r>
            <a:endParaRPr lang="en-US" sz="500" dirty="0"/>
          </a:p>
        </p:txBody>
      </p:sp>
      <p:sp>
        <p:nvSpPr>
          <p:cNvPr id="33" name="Shape 30"/>
          <p:cNvSpPr/>
          <p:nvPr/>
        </p:nvSpPr>
        <p:spPr>
          <a:xfrm>
            <a:off x="6232964" y="6315373"/>
            <a:ext cx="5242687" cy="205581"/>
          </a:xfrm>
          <a:prstGeom prst="roundRect">
            <a:avLst>
              <a:gd name="adj" fmla="val 49999"/>
            </a:avLst>
          </a:prstGeom>
          <a:solidFill>
            <a:srgbClr val="785507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175" y="6378674"/>
            <a:ext cx="87211" cy="69751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6494598" y="6376293"/>
            <a:ext cx="5503427" cy="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Five independent stages can stop a trade. Only one controlled path can start one.</a:t>
            </a:r>
            <a:endParaRPr lang="en-US" sz="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495697"/>
            <a:ext cx="865364" cy="231874"/>
          </a:xfrm>
          <a:prstGeom prst="roundRect">
            <a:avLst>
              <a:gd name="adj" fmla="val 49999"/>
            </a:avLst>
          </a:prstGeom>
          <a:solidFill>
            <a:srgbClr val="483304"/>
          </a:solidFill>
          <a:ln/>
        </p:spPr>
      </p:sp>
      <p:sp>
        <p:nvSpPr>
          <p:cNvPr id="3" name="Text 1"/>
          <p:cNvSpPr/>
          <p:nvPr/>
        </p:nvSpPr>
        <p:spPr>
          <a:xfrm>
            <a:off x="789662" y="541437"/>
            <a:ext cx="1291796" cy="14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RISK ENGINE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98086" y="780951"/>
            <a:ext cx="10795524" cy="449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RISK IS NOT AN </a:t>
            </a:r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FFD7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AI DECISION.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98086" y="1430536"/>
            <a:ext cx="11405108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Every constraint in the risk engine is deterministic, coded in Python, and runs independently of any model output. The AI cannot override, negotiate, or bypass any limit.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98086" y="1897559"/>
            <a:ext cx="2754541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Risk Funnel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272407"/>
            <a:ext cx="2754541" cy="36727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31435" y="1897559"/>
            <a:ext cx="4541426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 Failure We Caught Before Execution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831435" y="2255639"/>
            <a:ext cx="4541426" cy="366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This is an engineering validation case, not a performance claim. It demonstrates that the deterministic risk layer functions as designed.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831435" y="2772271"/>
            <a:ext cx="4541426" cy="1377652"/>
          </a:xfrm>
          <a:prstGeom prst="roundRect">
            <a:avLst>
              <a:gd name="adj" fmla="val 16629"/>
            </a:avLst>
          </a:prstGeom>
          <a:solidFill>
            <a:srgbClr val="00002E"/>
          </a:solidFill>
          <a:ln w="19050">
            <a:solidFill>
              <a:srgbClr val="F2B42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850484" y="2791321"/>
            <a:ext cx="2251614" cy="1339552"/>
          </a:xfrm>
          <a:custGeom>
            <a:avLst/>
            <a:gdLst/>
            <a:ahLst/>
            <a:cxnLst/>
            <a:rect l="l" t="t" r="r" b="b"/>
            <a:pathLst>
              <a:path w="2251614" h="1339552">
                <a:moveTo>
                  <a:pt x="190908" y="0"/>
                </a:moveTo>
                <a:lnTo>
                  <a:pt x="2251614" y="0"/>
                </a:lnTo>
                <a:lnTo>
                  <a:pt x="2251614" y="1339552"/>
                </a:lnTo>
                <a:lnTo>
                  <a:pt x="190908" y="1339552"/>
                </a:lnTo>
                <a:arcTo hR="190913" wR="190908" stAng="5400000" swAng="5400000"/>
                <a:lnTo>
                  <a:pt x="0" y="190913"/>
                </a:lnTo>
                <a:arcTo hR="190913" wR="190908" stAng="10800000" swAng="5400000"/>
                <a:close/>
              </a:path>
            </a:pathLst>
          </a:custGeom>
          <a:solidFill>
            <a:srgbClr val="00002E"/>
          </a:solidFill>
          <a:ln/>
        </p:spPr>
      </p:sp>
      <p:sp>
        <p:nvSpPr>
          <p:cNvPr id="12" name="Text 9"/>
          <p:cNvSpPr/>
          <p:nvPr/>
        </p:nvSpPr>
        <p:spPr>
          <a:xfrm>
            <a:off x="4003178" y="2944019"/>
            <a:ext cx="1946226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Initial Calculation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003178" y="3302099"/>
            <a:ext cx="1946226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~</a:t>
            </a:r>
            <a:pPr algn="l"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$16,000</a:t>
            </a:r>
            <a:pPr algn="l"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open risk computed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⛔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D7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REJECTED by Risk Gate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102098" y="2791321"/>
            <a:ext cx="2251713" cy="1339552"/>
          </a:xfrm>
          <a:custGeom>
            <a:avLst/>
            <a:gdLst/>
            <a:ahLst/>
            <a:cxnLst/>
            <a:rect l="l" t="t" r="r" b="b"/>
            <a:pathLst>
              <a:path w="2251713" h="1339552">
                <a:moveTo>
                  <a:pt x="0" y="0"/>
                </a:moveTo>
                <a:lnTo>
                  <a:pt x="2060805" y="0"/>
                </a:lnTo>
                <a:arcTo hR="190913" wR="190908" stAng="16200000" swAng="5400000"/>
                <a:lnTo>
                  <a:pt x="2251713" y="1148640"/>
                </a:lnTo>
                <a:arcTo hR="190913" wR="190908" stAng="0" swAng="5400000"/>
                <a:lnTo>
                  <a:pt x="0" y="1339552"/>
                </a:lnTo>
                <a:lnTo>
                  <a:pt x="0" y="0"/>
                </a:lnTo>
                <a:close/>
              </a:path>
            </a:pathLst>
          </a:custGeom>
          <a:solidFill>
            <a:srgbClr val="00002E"/>
          </a:solidFill>
          <a:ln/>
        </p:spPr>
      </p:sp>
      <p:sp>
        <p:nvSpPr>
          <p:cNvPr id="15" name="Shape 12"/>
          <p:cNvSpPr/>
          <p:nvPr/>
        </p:nvSpPr>
        <p:spPr>
          <a:xfrm>
            <a:off x="6102098" y="2791321"/>
            <a:ext cx="19050" cy="1339552"/>
          </a:xfrm>
          <a:prstGeom prst="roundRect">
            <a:avLst>
              <a:gd name="adj" fmla="val 49999"/>
            </a:avLst>
          </a:prstGeom>
          <a:solidFill>
            <a:srgbClr val="F05B77"/>
          </a:solidFill>
          <a:ln/>
        </p:spPr>
      </p:sp>
      <p:sp>
        <p:nvSpPr>
          <p:cNvPr id="16" name="Text 13"/>
          <p:cNvSpPr/>
          <p:nvPr/>
        </p:nvSpPr>
        <p:spPr>
          <a:xfrm>
            <a:off x="6254792" y="2944019"/>
            <a:ext cx="1946326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Corrected Calculation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254792" y="3302099"/>
            <a:ext cx="1946326" cy="676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$2,034</a:t>
            </a:r>
            <a:pPr algn="l"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max risk · </a:t>
            </a:r>
            <a:pPr algn="l"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1.98%</a:t>
            </a:r>
            <a:pPr algn="l"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of equity · </a:t>
            </a:r>
            <a:pPr algn="l"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12 contracts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✅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D7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APPROVED by Risk Gate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831435" y="4300240"/>
            <a:ext cx="4541426" cy="866180"/>
          </a:xfrm>
          <a:prstGeom prst="roundRect">
            <a:avLst>
              <a:gd name="adj" fmla="val 26448"/>
            </a:avLst>
          </a:prstGeom>
          <a:solidFill>
            <a:srgbClr val="785507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4128" y="4484985"/>
            <a:ext cx="152694" cy="12213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289516" y="4458593"/>
            <a:ext cx="3930651" cy="549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deterministic risk layer caught an incorrect open-risk calculation before execution reached the broker. This is engineering validation — not a profitability proof.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8751669" y="1897559"/>
            <a:ext cx="2754541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Hard Limits Summary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8751669" y="2272407"/>
            <a:ext cx="2754541" cy="884734"/>
          </a:xfrm>
          <a:prstGeom prst="roundRect">
            <a:avLst>
              <a:gd name="adj" fmla="val 25894"/>
            </a:avLst>
          </a:prstGeom>
          <a:solidFill>
            <a:srgbClr val="00002E"/>
          </a:solidFill>
          <a:ln w="19050">
            <a:solidFill>
              <a:srgbClr val="F2B42D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923412" y="2444155"/>
            <a:ext cx="2411055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≤ 2%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8923412" y="2802235"/>
            <a:ext cx="2411055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equity per trade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8751669" y="3290689"/>
            <a:ext cx="2754541" cy="884734"/>
          </a:xfrm>
          <a:prstGeom prst="roundRect">
            <a:avLst>
              <a:gd name="adj" fmla="val 25894"/>
            </a:avLst>
          </a:prstGeom>
          <a:solidFill>
            <a:srgbClr val="00002E"/>
          </a:solidFill>
          <a:ln w="19050">
            <a:solidFill>
              <a:srgbClr val="D7425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923412" y="3462437"/>
            <a:ext cx="2411055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≤ 10%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8923412" y="3820517"/>
            <a:ext cx="2411055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total open risk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8751669" y="4308971"/>
            <a:ext cx="2754541" cy="884734"/>
          </a:xfrm>
          <a:prstGeom prst="roundRect">
            <a:avLst>
              <a:gd name="adj" fmla="val 25894"/>
            </a:avLst>
          </a:prstGeom>
          <a:solidFill>
            <a:srgbClr val="00002E"/>
          </a:solidFill>
          <a:ln w="19050">
            <a:solidFill>
              <a:srgbClr val="DD785E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923412" y="4480719"/>
            <a:ext cx="2411055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≤ 4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8923412" y="4838799"/>
            <a:ext cx="2411055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concurrent positions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8751669" y="5327253"/>
            <a:ext cx="2754541" cy="884734"/>
          </a:xfrm>
          <a:prstGeom prst="roundRect">
            <a:avLst>
              <a:gd name="adj" fmla="val 25894"/>
            </a:avLst>
          </a:prstGeom>
          <a:solidFill>
            <a:srgbClr val="00002E"/>
          </a:solidFill>
          <a:ln w="19050">
            <a:solidFill>
              <a:srgbClr val="48A8E2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8923412" y="5499001"/>
            <a:ext cx="2411055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8923412" y="5857081"/>
            <a:ext cx="2411055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position per underlying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479921"/>
            <a:ext cx="899098" cy="132457"/>
          </a:xfrm>
          <a:prstGeom prst="roundRect">
            <a:avLst>
              <a:gd name="adj" fmla="val 49999"/>
            </a:avLst>
          </a:prstGeom>
          <a:solidFill>
            <a:srgbClr val="483304"/>
          </a:solidFill>
          <a:ln/>
        </p:spPr>
      </p:sp>
      <p:sp>
        <p:nvSpPr>
          <p:cNvPr id="3" name="Text 1"/>
          <p:cNvSpPr/>
          <p:nvPr/>
        </p:nvSpPr>
        <p:spPr>
          <a:xfrm>
            <a:off x="750373" y="506016"/>
            <a:ext cx="1404109" cy="8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EXECUTION + VALIDATION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698086" y="629741"/>
            <a:ext cx="1079552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FROM SIGNAL TO ORDER. 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D7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WITHOUT A HUMAN IN THE LOOP.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535" y="951805"/>
            <a:ext cx="10706527" cy="46170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2944" y="4702226"/>
            <a:ext cx="2285926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Model Decisions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462944" y="3633455"/>
            <a:ext cx="2285926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Signal Gen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62944" y="2575479"/>
            <a:ext cx="2285926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Market Data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62944" y="1506708"/>
            <a:ext cx="2285926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Automated Trigger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98086" y="5661422"/>
            <a:ext cx="5291303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Autonomous Boundary</a:t>
            </a:r>
            <a:endParaRPr lang="en-US" sz="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386" y="5826026"/>
            <a:ext cx="5304002" cy="2809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10696" y="5838726"/>
            <a:ext cx="5178692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D7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AUTONOMOUS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10696" y="6010573"/>
            <a:ext cx="5178692" cy="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Market data ingestion · Signal generation · AI reasoning · Rulebook evaluation · Risk gate · Order execution · Audit logging</a:t>
            </a:r>
            <a:endParaRPr lang="en-US" sz="5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386" y="6168827"/>
            <a:ext cx="5304002" cy="2809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0696" y="6181527"/>
            <a:ext cx="5178692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E90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HUMAN BOUNDARY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810696" y="6353373"/>
            <a:ext cx="5178692" cy="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Credentials provisioning · Kill switch activation</a:t>
            </a:r>
            <a:endParaRPr lang="en-US" sz="500" dirty="0"/>
          </a:p>
        </p:txBody>
      </p:sp>
      <p:sp>
        <p:nvSpPr>
          <p:cNvPr id="17" name="Text 12"/>
          <p:cNvSpPr/>
          <p:nvPr/>
        </p:nvSpPr>
        <p:spPr>
          <a:xfrm>
            <a:off x="698086" y="6486128"/>
            <a:ext cx="5291303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Execution Details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698086" y="6663432"/>
            <a:ext cx="1734697" cy="455414"/>
          </a:xfrm>
          <a:prstGeom prst="roundRect">
            <a:avLst>
              <a:gd name="adj" fmla="val 28745"/>
            </a:avLst>
          </a:prstGeom>
          <a:solidFill>
            <a:srgbClr val="00002E">
              <a:alpha val="75000"/>
            </a:srgbClr>
          </a:solidFill>
          <a:ln w="12700">
            <a:solidFill>
              <a:srgbClr val="F2B42D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97996" y="6763345"/>
            <a:ext cx="1534876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Every 15 Minutes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797996" y="6935192"/>
            <a:ext cx="1534876" cy="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during market hours</a:t>
            </a:r>
            <a:endParaRPr lang="en-US" sz="500" dirty="0"/>
          </a:p>
        </p:txBody>
      </p:sp>
      <p:sp>
        <p:nvSpPr>
          <p:cNvPr id="21" name="Shape 16"/>
          <p:cNvSpPr/>
          <p:nvPr/>
        </p:nvSpPr>
        <p:spPr>
          <a:xfrm>
            <a:off x="2476339" y="6663432"/>
            <a:ext cx="1734697" cy="455414"/>
          </a:xfrm>
          <a:prstGeom prst="roundRect">
            <a:avLst>
              <a:gd name="adj" fmla="val 28745"/>
            </a:avLst>
          </a:prstGeom>
          <a:solidFill>
            <a:srgbClr val="00002E">
              <a:alpha val="75000"/>
            </a:srgbClr>
          </a:solidFill>
          <a:ln w="12700">
            <a:solidFill>
              <a:srgbClr val="D7425E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2576250" y="6763345"/>
            <a:ext cx="1534876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Primary Scheduler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2576250" y="6935192"/>
            <a:ext cx="1534876" cy="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cron-job.org</a:t>
            </a:r>
            <a:endParaRPr lang="en-US" sz="500" dirty="0"/>
          </a:p>
        </p:txBody>
      </p:sp>
      <p:sp>
        <p:nvSpPr>
          <p:cNvPr id="24" name="Shape 19"/>
          <p:cNvSpPr/>
          <p:nvPr/>
        </p:nvSpPr>
        <p:spPr>
          <a:xfrm>
            <a:off x="4254592" y="6663432"/>
            <a:ext cx="1734697" cy="455414"/>
          </a:xfrm>
          <a:prstGeom prst="roundRect">
            <a:avLst>
              <a:gd name="adj" fmla="val 28745"/>
            </a:avLst>
          </a:prstGeom>
          <a:solidFill>
            <a:srgbClr val="00002E">
              <a:alpha val="75000"/>
            </a:srgbClr>
          </a:solidFill>
          <a:ln w="12700">
            <a:solidFill>
              <a:srgbClr val="DD785E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354503" y="6763345"/>
            <a:ext cx="1534876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Backup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4354503" y="6935192"/>
            <a:ext cx="1534876" cy="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GitHub Actions</a:t>
            </a:r>
            <a:endParaRPr lang="en-US" sz="500" dirty="0"/>
          </a:p>
        </p:txBody>
      </p:sp>
      <p:sp>
        <p:nvSpPr>
          <p:cNvPr id="27" name="Shape 22"/>
          <p:cNvSpPr/>
          <p:nvPr/>
        </p:nvSpPr>
        <p:spPr>
          <a:xfrm>
            <a:off x="698086" y="7162403"/>
            <a:ext cx="5291204" cy="455414"/>
          </a:xfrm>
          <a:prstGeom prst="roundRect">
            <a:avLst>
              <a:gd name="adj" fmla="val 28745"/>
            </a:avLst>
          </a:prstGeom>
          <a:solidFill>
            <a:srgbClr val="00002E">
              <a:alpha val="75000"/>
            </a:srgbClr>
          </a:solidFill>
          <a:ln w="12700">
            <a:solidFill>
              <a:srgbClr val="48A8E2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97996" y="7262316"/>
            <a:ext cx="5091382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Execution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797996" y="7434163"/>
            <a:ext cx="5091382" cy="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Alpaca CLI subprocess</a:t>
            </a:r>
            <a:endParaRPr lang="en-US" sz="500" dirty="0"/>
          </a:p>
        </p:txBody>
      </p:sp>
      <p:sp>
        <p:nvSpPr>
          <p:cNvPr id="30" name="Shape 25"/>
          <p:cNvSpPr/>
          <p:nvPr/>
        </p:nvSpPr>
        <p:spPr>
          <a:xfrm>
            <a:off x="6145753" y="5617865"/>
            <a:ext cx="5417109" cy="3312319"/>
          </a:xfrm>
          <a:prstGeom prst="roundRect">
            <a:avLst>
              <a:gd name="adj" fmla="val 6323"/>
            </a:avLst>
          </a:prstGeom>
          <a:solidFill>
            <a:srgbClr val="001A4D">
              <a:alpha val="75000"/>
            </a:srgbClr>
          </a:solidFill>
          <a:ln/>
        </p:spPr>
      </p:sp>
      <p:sp>
        <p:nvSpPr>
          <p:cNvPr id="31" name="Text 26"/>
          <p:cNvSpPr/>
          <p:nvPr/>
        </p:nvSpPr>
        <p:spPr>
          <a:xfrm>
            <a:off x="6232964" y="5661422"/>
            <a:ext cx="5242687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Validation Metrics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6232964" y="5833269"/>
            <a:ext cx="5852272" cy="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Engineering validation benchmarks — not performance or profitability claims.</a:t>
            </a:r>
            <a:endParaRPr lang="en-US" sz="500" dirty="0"/>
          </a:p>
        </p:txBody>
      </p:sp>
      <p:sp>
        <p:nvSpPr>
          <p:cNvPr id="33" name="Text 28"/>
          <p:cNvSpPr/>
          <p:nvPr/>
        </p:nvSpPr>
        <p:spPr>
          <a:xfrm>
            <a:off x="6232964" y="6009580"/>
            <a:ext cx="5242687" cy="288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203+</a:t>
            </a:r>
            <a:endParaRPr lang="en-US" sz="2250" dirty="0"/>
          </a:p>
        </p:txBody>
      </p:sp>
      <p:sp>
        <p:nvSpPr>
          <p:cNvPr id="34" name="Text 29"/>
          <p:cNvSpPr/>
          <p:nvPr/>
        </p:nvSpPr>
        <p:spPr>
          <a:xfrm>
            <a:off x="6232964" y="6373813"/>
            <a:ext cx="5242687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Autonomous Cycles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6232964" y="6545659"/>
            <a:ext cx="5242687" cy="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Completed end-to-end without manual intervention</a:t>
            </a:r>
            <a:endParaRPr lang="en-US" sz="500" dirty="0"/>
          </a:p>
        </p:txBody>
      </p:sp>
      <p:sp>
        <p:nvSpPr>
          <p:cNvPr id="36" name="Text 31"/>
          <p:cNvSpPr/>
          <p:nvPr/>
        </p:nvSpPr>
        <p:spPr>
          <a:xfrm>
            <a:off x="6232964" y="6760170"/>
            <a:ext cx="5242687" cy="288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153</a:t>
            </a:r>
            <a:endParaRPr lang="en-US" sz="2250" dirty="0"/>
          </a:p>
        </p:txBody>
      </p:sp>
      <p:sp>
        <p:nvSpPr>
          <p:cNvPr id="37" name="Text 32"/>
          <p:cNvSpPr/>
          <p:nvPr/>
        </p:nvSpPr>
        <p:spPr>
          <a:xfrm>
            <a:off x="6232964" y="7124402"/>
            <a:ext cx="5242687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Tests Passed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6232964" y="7296249"/>
            <a:ext cx="5242687" cy="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Across signal, safety, rulebook, and risk layers</a:t>
            </a:r>
            <a:endParaRPr lang="en-US" sz="500" dirty="0"/>
          </a:p>
        </p:txBody>
      </p:sp>
      <p:sp>
        <p:nvSpPr>
          <p:cNvPr id="39" name="Text 34"/>
          <p:cNvSpPr/>
          <p:nvPr/>
        </p:nvSpPr>
        <p:spPr>
          <a:xfrm>
            <a:off x="6232964" y="7510760"/>
            <a:ext cx="5242687" cy="288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4</a:t>
            </a:r>
            <a:endParaRPr lang="en-US" sz="2250" dirty="0"/>
          </a:p>
        </p:txBody>
      </p:sp>
      <p:sp>
        <p:nvSpPr>
          <p:cNvPr id="40" name="Text 35"/>
          <p:cNvSpPr/>
          <p:nvPr/>
        </p:nvSpPr>
        <p:spPr>
          <a:xfrm>
            <a:off x="6232964" y="7874992"/>
            <a:ext cx="5242687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Underlyings</a:t>
            </a:r>
            <a:endParaRPr lang="en-US" sz="800" dirty="0"/>
          </a:p>
        </p:txBody>
      </p:sp>
      <p:sp>
        <p:nvSpPr>
          <p:cNvPr id="41" name="Text 36"/>
          <p:cNvSpPr/>
          <p:nvPr/>
        </p:nvSpPr>
        <p:spPr>
          <a:xfrm>
            <a:off x="6232964" y="8046839"/>
            <a:ext cx="5242687" cy="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SPY, QQQ, IWM, DIA</a:t>
            </a:r>
            <a:endParaRPr lang="en-US" sz="500" dirty="0"/>
          </a:p>
        </p:txBody>
      </p:sp>
      <p:sp>
        <p:nvSpPr>
          <p:cNvPr id="42" name="Text 37"/>
          <p:cNvSpPr/>
          <p:nvPr/>
        </p:nvSpPr>
        <p:spPr>
          <a:xfrm>
            <a:off x="6232964" y="8261350"/>
            <a:ext cx="5242687" cy="288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3</a:t>
            </a:r>
            <a:endParaRPr lang="en-US" sz="2250" dirty="0"/>
          </a:p>
        </p:txBody>
      </p:sp>
      <p:sp>
        <p:nvSpPr>
          <p:cNvPr id="43" name="Text 38"/>
          <p:cNvSpPr/>
          <p:nvPr/>
        </p:nvSpPr>
        <p:spPr>
          <a:xfrm>
            <a:off x="6232964" y="8625582"/>
            <a:ext cx="5242687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AI Models</a:t>
            </a:r>
            <a:endParaRPr lang="en-US" sz="800" dirty="0"/>
          </a:p>
        </p:txBody>
      </p:sp>
      <p:sp>
        <p:nvSpPr>
          <p:cNvPr id="44" name="Text 39"/>
          <p:cNvSpPr/>
          <p:nvPr/>
        </p:nvSpPr>
        <p:spPr>
          <a:xfrm>
            <a:off x="6232964" y="8797429"/>
            <a:ext cx="5242687" cy="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Groq, Featherless, Mistral</a:t>
            </a:r>
            <a:endParaRPr lang="en-US" sz="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479921"/>
            <a:ext cx="628833" cy="132457"/>
          </a:xfrm>
          <a:prstGeom prst="roundRect">
            <a:avLst>
              <a:gd name="adj" fmla="val 49999"/>
            </a:avLst>
          </a:prstGeom>
          <a:solidFill>
            <a:srgbClr val="483304"/>
          </a:solidFill>
          <a:ln/>
        </p:spPr>
      </p:sp>
      <p:sp>
        <p:nvSpPr>
          <p:cNvPr id="3" name="Text 1"/>
          <p:cNvSpPr/>
          <p:nvPr/>
        </p:nvSpPr>
        <p:spPr>
          <a:xfrm>
            <a:off x="750373" y="506016"/>
            <a:ext cx="1133844" cy="8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BIG PICTURE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698086" y="629741"/>
            <a:ext cx="1079552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SAME MARKETS. 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D7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SMARTER AGENTS.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808" y="951805"/>
            <a:ext cx="10319980" cy="40458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2816" y="1150222"/>
            <a:ext cx="1889183" cy="285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Sense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19409" y="1150222"/>
            <a:ext cx="1889183" cy="285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Reason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19409" y="4513558"/>
            <a:ext cx="1889183" cy="285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Verify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82816" y="4513558"/>
            <a:ext cx="1889183" cy="285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Control Risk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98086" y="5090220"/>
            <a:ext cx="5291303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What Building It Taught Us</a:t>
            </a:r>
            <a:endParaRPr lang="en-US" sz="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5267523"/>
            <a:ext cx="1734697" cy="7066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8795" y="5367437"/>
            <a:ext cx="1484077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The Classifier Problem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48795" y="5539284"/>
            <a:ext cx="1484077" cy="251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bullish branch </a:t>
            </a:r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never fired</a:t>
            </a:r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 P(Up) did not cross the rulebook threshold. A system without instrumentation would never have surfaced this.</a:t>
            </a:r>
            <a:endParaRPr lang="en-US" sz="5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76339" y="5267523"/>
            <a:ext cx="1734697" cy="7066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627048" y="5367437"/>
            <a:ext cx="1484077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The IV Rank Problem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2627048" y="5539284"/>
            <a:ext cx="1484077" cy="334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premium-selling branch required </a:t>
            </a:r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sufficient price history</a:t>
            </a:r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before IV Rank became meaningful. Assumptions about data readiness are always wrong.</a:t>
            </a:r>
            <a:endParaRPr lang="en-US" sz="5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54592" y="5267523"/>
            <a:ext cx="1734697" cy="7066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405302" y="5367437"/>
            <a:ext cx="1484077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The Model Frequency Problem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4405302" y="5539284"/>
            <a:ext cx="1484077" cy="334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model queried every 15 minutes with daily-resolution data produced </a:t>
            </a:r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constant predictions</a:t>
            </a:r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 Frequency mismatch is a silent, invisible failure mode.</a:t>
            </a:r>
            <a:endParaRPr lang="en-US" sz="500" dirty="0"/>
          </a:p>
        </p:txBody>
      </p:sp>
      <p:sp>
        <p:nvSpPr>
          <p:cNvPr id="20" name="Shape 14"/>
          <p:cNvSpPr/>
          <p:nvPr/>
        </p:nvSpPr>
        <p:spPr>
          <a:xfrm>
            <a:off x="6145753" y="5046663"/>
            <a:ext cx="5417109" cy="1457821"/>
          </a:xfrm>
          <a:prstGeom prst="roundRect">
            <a:avLst>
              <a:gd name="adj" fmla="val 14368"/>
            </a:avLst>
          </a:prstGeom>
          <a:solidFill>
            <a:srgbClr val="001A4D">
              <a:alpha val="75000"/>
            </a:srgbClr>
          </a:solidFill>
          <a:ln/>
        </p:spPr>
      </p:sp>
      <p:sp>
        <p:nvSpPr>
          <p:cNvPr id="21" name="Text 15"/>
          <p:cNvSpPr/>
          <p:nvPr/>
        </p:nvSpPr>
        <p:spPr>
          <a:xfrm>
            <a:off x="6232964" y="5090220"/>
            <a:ext cx="5242687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The Founding Principle</a:t>
            </a:r>
            <a:endParaRPr lang="en-US" sz="800" dirty="0"/>
          </a:p>
        </p:txBody>
      </p:sp>
      <p:sp>
        <p:nvSpPr>
          <p:cNvPr id="22" name="Text 16"/>
          <p:cNvSpPr/>
          <p:nvPr/>
        </p:nvSpPr>
        <p:spPr>
          <a:xfrm>
            <a:off x="6232964" y="5262066"/>
            <a:ext cx="5242687" cy="354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FD7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INSTRUMENTATION &gt; ASSUMPTIONS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6232964" y="5659834"/>
            <a:ext cx="5242687" cy="167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Every failure above was invisible until we built the logging, cross-model comparison, and signal validation layers to surface it. The system's reliability comes from its observability.</a:t>
            </a:r>
            <a:endParaRPr lang="en-US" sz="500" dirty="0"/>
          </a:p>
        </p:txBody>
      </p:sp>
      <p:sp>
        <p:nvSpPr>
          <p:cNvPr id="24" name="Shape 18"/>
          <p:cNvSpPr/>
          <p:nvPr/>
        </p:nvSpPr>
        <p:spPr>
          <a:xfrm>
            <a:off x="6232964" y="5898059"/>
            <a:ext cx="5242687" cy="1270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5" name="Text 19"/>
          <p:cNvSpPr/>
          <p:nvPr/>
        </p:nvSpPr>
        <p:spPr>
          <a:xfrm>
            <a:off x="6363831" y="6020693"/>
            <a:ext cx="5111821" cy="167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LET AI REASON ABOUT THE MARKET.</a:t>
            </a:r>
            <a:endParaRPr lang="en-US" sz="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NEVER LET THE MODEL DECIDE WHAT THE SYSTEM IS ALLOWED TO DO.</a:t>
            </a:r>
            <a:endParaRPr lang="en-US" sz="500" dirty="0"/>
          </a:p>
        </p:txBody>
      </p:sp>
      <p:sp>
        <p:nvSpPr>
          <p:cNvPr id="26" name="Shape 20"/>
          <p:cNvSpPr/>
          <p:nvPr/>
        </p:nvSpPr>
        <p:spPr>
          <a:xfrm>
            <a:off x="6232964" y="5981502"/>
            <a:ext cx="12700" cy="245864"/>
          </a:xfrm>
          <a:prstGeom prst="roundRect">
            <a:avLst>
              <a:gd name="adj" fmla="val 49999"/>
            </a:avLst>
          </a:prstGeom>
          <a:solidFill>
            <a:srgbClr val="F2B42D"/>
          </a:solidFill>
          <a:ln/>
        </p:spPr>
      </p:sp>
      <p:sp>
        <p:nvSpPr>
          <p:cNvPr id="27" name="Shape 21"/>
          <p:cNvSpPr/>
          <p:nvPr/>
        </p:nvSpPr>
        <p:spPr>
          <a:xfrm>
            <a:off x="6232964" y="6298109"/>
            <a:ext cx="5242687" cy="1270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8" name="Text 22"/>
          <p:cNvSpPr/>
          <p:nvPr/>
        </p:nvSpPr>
        <p:spPr>
          <a:xfrm>
            <a:off x="5928172" y="6381552"/>
            <a:ext cx="5852272" cy="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1E90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BRIGHTLINE · Alpaca AI Trading Agents Hackathon · Options Alpha Track · Team AAF11</a:t>
            </a:r>
            <a:endParaRPr lang="en-US" sz="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2026-09-04T13:14:11Z</dcterms:created>
  <dcterms:modified xsi:type="dcterms:W3CDTF">2026-09-04T13:14:11Z</dcterms:modified>
</cp:coreProperties>
</file>