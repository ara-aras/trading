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417320"/>
            <a:ext cx="1076550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61A"/>
                </a:solidFill>
                <a:latin typeface="Segoe UI"/>
              </a:rPr>
              <a:t>ALPACA AI TRADING AGENTS  ·  OPTIONS ALPHA  ·  TEAM AAF11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10512"/>
            <a:ext cx="1076550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AFAFA"/>
                </a:solidFill>
                <a:latin typeface="Segoe UI"/>
              </a:rPr>
              <a:t>BRIGHTLINE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18688"/>
            <a:ext cx="1076550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FAFAFA"/>
                </a:solidFill>
                <a:latin typeface="Segoe UI"/>
              </a:rPr>
              <a:t>Disciplined AI. Real markets. </a:t>
            </a:r>
            <a:r>
              <a:rPr sz="3400" b="0">
                <a:solidFill>
                  <a:srgbClr val="FFC61A"/>
                </a:solidFill>
                <a:latin typeface="Segoe UI"/>
              </a:rPr>
              <a:t>Brighter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114800"/>
            <a:ext cx="2834640" cy="2011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480560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Autonomous options-trading agent  ·  Alpaca paper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956048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AFAFA"/>
                </a:solidFill>
                <a:latin typeface="Segoe UI"/>
              </a:rPr>
              <a:t>Rafan Ahamad Sheik    ·    Prateek D Shriyan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68112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C61A"/>
                </a:solidFill>
                <a:latin typeface="Consolas"/>
              </a:rPr>
              <a:t>alpaca-trade-intelli.vercel.app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AI can trade. </a:t>
            </a:r>
            <a:r>
              <a:rPr sz="4000" b="1">
                <a:solidFill>
                  <a:srgbClr val="FFC61A"/>
                </a:solidFill>
                <a:latin typeface="Segoe UI"/>
              </a:rPr>
              <a:t>Who controls the trade?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4963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C6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81528"/>
            <a:ext cx="26070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AFAFA"/>
                </a:solidFill>
                <a:latin typeface="Segoe UI"/>
              </a:rPr>
              <a:t>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85032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It can quote a number
it was never given.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8413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92461" y="24963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C61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2461" y="3081528"/>
            <a:ext cx="26070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AFAFA"/>
                </a:solidFill>
                <a:latin typeface="Segoe UI"/>
              </a:rPr>
              <a:t>Constraint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2461" y="3685032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It can ignore a rule
it was told to follow.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595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87643" y="249631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C61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7643" y="3081528"/>
            <a:ext cx="26070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AFAFA"/>
                </a:solidFill>
                <a:latin typeface="Segoe UI"/>
              </a:rPr>
              <a:t>Risk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7643" y="3685032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It can size a position
with language, not math.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Let AI reason about the market. Never let it set the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ONE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1076550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AFAFA"/>
                </a:solidFill>
                <a:latin typeface="Segoe UI"/>
              </a:rPr>
              <a:t>The model may decline a trade it is allowed to take.
</a:t>
            </a:r>
            <a:r>
              <a:rPr sz="4200" b="1">
                <a:solidFill>
                  <a:srgbClr val="FFC61A"/>
                </a:solidFill>
                <a:latin typeface="Segoe UI"/>
              </a:rPr>
              <a:t>It can never propose one it is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4315968"/>
            <a:ext cx="2834640" cy="2011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681728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A8BCE0"/>
                </a:solidFill>
                <a:latin typeface="Segoe UI"/>
              </a:rPr>
              <a:t>Not a policy the model is asked to follow — a property of the code path. The rulebook is re-derived in Python from the raw signals, never from the model’s summary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AI proposes. </a:t>
            </a:r>
            <a:r>
              <a:rPr sz="4000" b="1">
                <a:solidFill>
                  <a:srgbClr val="FFC61A"/>
                </a:solidFill>
                <a:latin typeface="Segoe UI"/>
              </a:rPr>
              <a:t>Python disposes.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29968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08483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2148840"/>
            <a:ext cx="71993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P(Up) · IV rank · VRP · regime — computed, never asked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79776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83464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Three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898648"/>
            <a:ext cx="71993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Identical inputs. Exactly one of them can execute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529584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" y="364845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58444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Rulebook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3648456"/>
            <a:ext cx="71993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Re-derived in Python from the raw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279392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439826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334255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Risk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4398264"/>
            <a:ext cx="71993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Quarter-Kelly sizing. Zero AI in the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29200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51480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508406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5148072"/>
            <a:ext cx="71993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One atomic MLEG order, appended to the audit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Every 15 minutes, market hours. Two independent triggers. No human in a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The agent builds </a:t>
            </a:r>
            <a:r>
              <a:rPr sz="4000" b="1">
                <a:solidFill>
                  <a:srgbClr val="FFC61A"/>
                </a:solidFill>
                <a:latin typeface="Segoe UI"/>
              </a:rPr>
              <a:t>its own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2451346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18295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C61A"/>
                </a:solidFill>
                <a:latin typeface="Segoe UI"/>
              </a:rPr>
              <a:t>P(Up)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227832"/>
            <a:ext cx="182955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Calibrated gradient
boosting on daily bars.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4618" y="2148840"/>
            <a:ext cx="2451346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5514" y="2532888"/>
            <a:ext cx="18295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C61A"/>
                </a:solidFill>
                <a:latin typeface="Segoe UI"/>
              </a:rPr>
              <a:t>IV 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5514" y="3227832"/>
            <a:ext cx="182955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Trusted only after 30
samples across two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6004" y="2148840"/>
            <a:ext cx="2451346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66900" y="2532888"/>
            <a:ext cx="18295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C61A"/>
                </a:solidFill>
                <a:latin typeface="Segoe UI"/>
              </a:rPr>
              <a:t>VRP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900" y="3227832"/>
            <a:ext cx="182955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Implied volatility
minus realised.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7391" y="2148840"/>
            <a:ext cx="2451346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38287" y="2532888"/>
            <a:ext cx="18295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C61A"/>
                </a:solidFill>
                <a:latin typeface="Segoe UI"/>
              </a:rPr>
              <a:t>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287" y="3227832"/>
            <a:ext cx="182955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Volatility state of
the underlying.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Computed in Python and handed to the model. Never invented by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THREE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Same inputs. </a:t>
            </a:r>
            <a:r>
              <a:rPr sz="4000" b="1">
                <a:solidFill>
                  <a:srgbClr val="FFC61A"/>
                </a:solidFill>
                <a:latin typeface="Segoe UI"/>
              </a:rPr>
              <a:t>One execution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22225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487168"/>
            <a:ext cx="260704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AFAFA"/>
                </a:solidFill>
                <a:latin typeface="Segoe UI"/>
              </a:rPr>
              <a:t>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60704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61A"/>
                </a:solidFill>
                <a:latin typeface="Consolas"/>
              </a:rPr>
              <a:t>LIVE · CAN EXECUTE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Reaches the broker.
Subject to every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8413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92461" y="2487168"/>
            <a:ext cx="260704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AFAFA"/>
                </a:solidFill>
                <a:latin typeface="Segoe UI"/>
              </a:rPr>
              <a:t>Featherless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2461" y="3108960"/>
            <a:ext cx="260704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8BCE0"/>
                </a:solidFill>
                <a:latin typeface="Consolas"/>
              </a:rPr>
              <a:t>SHADOW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2461" y="3657600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Reasons and is scored.
Never executes.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595" y="2148840"/>
            <a:ext cx="3375141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87643" y="2487168"/>
            <a:ext cx="260704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AFAFA"/>
                </a:solidFill>
                <a:latin typeface="Segoe UI"/>
              </a:rPr>
              <a:t>Mistral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7643" y="3108960"/>
            <a:ext cx="260704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8BCE0"/>
                </a:solidFill>
                <a:latin typeface="Consolas"/>
              </a:rPr>
              <a:t>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7643" y="3657600"/>
            <a:ext cx="260704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Reasons and is scored.
Never executes.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Because the rulebook is a pure function of the same signals, every answer is markable.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Four checks </a:t>
            </a:r>
            <a:r>
              <a:rPr sz="4000" b="1">
                <a:solidFill>
                  <a:srgbClr val="FFC61A"/>
                </a:solidFill>
                <a:latin typeface="Segoe UI"/>
              </a:rPr>
              <a:t>before the rulebook.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12848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231136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Signal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2295144"/>
            <a:ext cx="67421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NaN, out of range or inconsistent — no model is called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81528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20040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099816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Faithfulness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163824"/>
            <a:ext cx="67421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A figure quoted but never supplied kills the trade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50208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" y="406908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68496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Cross-model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4032504"/>
            <a:ext cx="67421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Agreement recorded across all three. Never enforced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818888"/>
            <a:ext cx="566928" cy="566928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4937759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837175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AFAFA"/>
                </a:solidFill>
                <a:latin typeface="Segoe UI"/>
              </a:rPr>
              <a:t>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901183"/>
            <a:ext cx="674214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A second, independent read of live broker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Five stages can stop a trade. One can start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Risk is </a:t>
            </a:r>
            <a:r>
              <a:rPr sz="4000" b="1">
                <a:solidFill>
                  <a:srgbClr val="FFC61A"/>
                </a:solidFill>
                <a:latin typeface="Segoe UI"/>
              </a:rPr>
              <a:t>not an AI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49424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02A66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249424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8BCE0"/>
                </a:solidFill>
                <a:latin typeface="Segoe UI"/>
              </a:rPr>
              <a:t>Trade proposal 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122" y="2907791"/>
            <a:ext cx="4503420" cy="548640"/>
          </a:xfrm>
          <a:prstGeom prst="roundRect">
            <a:avLst>
              <a:gd name="adj" fmla="val 5000"/>
            </a:avLst>
          </a:prstGeom>
          <a:solidFill>
            <a:srgbClr val="102A66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6122" y="2907791"/>
            <a:ext cx="45034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8BCE0"/>
                </a:solidFill>
                <a:latin typeface="Segoe UI"/>
              </a:rPr>
              <a:t>Quarter-Kelly sizing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" y="3566160"/>
            <a:ext cx="3977639" cy="548640"/>
          </a:xfrm>
          <a:prstGeom prst="roundRect">
            <a:avLst>
              <a:gd name="adj" fmla="val 5000"/>
            </a:avLst>
          </a:prstGeom>
          <a:solidFill>
            <a:srgbClr val="102A66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9012" y="3566160"/>
            <a:ext cx="39776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8BCE0"/>
                </a:solidFill>
                <a:latin typeface="Segoe UI"/>
              </a:rPr>
              <a:t>Per-trade and open-risk caps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1901" y="4224528"/>
            <a:ext cx="3451860" cy="548640"/>
          </a:xfrm>
          <a:prstGeom prst="roundRect">
            <a:avLst>
              <a:gd name="adj" fmla="val 5000"/>
            </a:avLst>
          </a:prstGeom>
          <a:solidFill>
            <a:srgbClr val="102A66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501901" y="4224528"/>
            <a:ext cx="34518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8BCE0"/>
                </a:solidFill>
                <a:latin typeface="Segoe UI"/>
              </a:rPr>
              <a:t>Drawdown halt · loss streak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882896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102A66"/>
          </a:solidFill>
          <a:ln w="22225">
            <a:solidFill>
              <a:srgbClr val="FFC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64792" y="4882896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AFAFA"/>
                </a:solidFill>
                <a:latin typeface="Segoe UI"/>
              </a:rPr>
              <a:t>Approved   or  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61A"/>
                </a:solidFill>
                <a:latin typeface="Segoe UI"/>
              </a:rPr>
              <a:t>≤ 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323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equity per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61A"/>
                </a:solidFill>
                <a:latin typeface="Segoe UI"/>
              </a:rPr>
              <a:t>≤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5526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total open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61A"/>
                </a:solidFill>
                <a:latin typeface="Segoe UI"/>
              </a:rPr>
              <a:t>≤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0782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concurrent positions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5488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61A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90118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position per underlying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Every number above is computed in Python. No model can move one of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Measured, </a:t>
            </a:r>
            <a:r>
              <a:rPr sz="4000" b="1">
                <a:solidFill>
                  <a:srgbClr val="FFC61A"/>
                </a:solidFill>
                <a:latin typeface="Segoe UI"/>
              </a:rPr>
              <a:t>not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2691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C61A"/>
                </a:solidFill>
                <a:latin typeface="Segoe UI"/>
              </a:rPr>
              <a:t>302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24912"/>
            <a:ext cx="2691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decision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4608" y="1847088"/>
            <a:ext cx="2691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C61A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4608" y="2724912"/>
            <a:ext cx="2691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off-book attempts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84" y="1847088"/>
            <a:ext cx="2691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C61A"/>
                </a:solidFill>
                <a:latin typeface="Segoe U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984" y="2724912"/>
            <a:ext cx="2691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reached the broker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61" y="1847088"/>
            <a:ext cx="2691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C61A"/>
                </a:solidFill>
                <a:latin typeface="Segoe UI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61" y="2724912"/>
            <a:ext cx="2691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model disagreement</a:t>
            </a:r>
          </a:p>
        </p:txBody>
      </p:sp>
      <p:pic>
        <p:nvPicPr>
          <p:cNvPr id="13" name="Picture 12" descr="p_equ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962" y="3346704"/>
            <a:ext cx="7210044" cy="2276856"/>
          </a:xfrm>
          <a:prstGeom prst="rect">
            <a:avLst/>
          </a:prstGeom>
          <a:ln w="12700">
            <a:solidFill>
              <a:srgbClr val="FFC61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Equity is −5.8%. The cause is traced to a units error, and written up in full.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PUBLIC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Every cycle is </a:t>
            </a:r>
            <a:r>
              <a:rPr sz="4000" b="1">
                <a:solidFill>
                  <a:srgbClr val="FFC61A"/>
                </a:solidFill>
                <a:latin typeface="Segoe UI"/>
              </a:rPr>
              <a:t>logged.</a:t>
            </a:r>
          </a:p>
        </p:txBody>
      </p:sp>
      <p:pic>
        <p:nvPicPr>
          <p:cNvPr id="5" name="Picture 4" descr="p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83" y="2103120"/>
            <a:ext cx="9896002" cy="3255264"/>
          </a:xfrm>
          <a:prstGeom prst="rect">
            <a:avLst/>
          </a:prstGeom>
          <a:ln w="12700">
            <a:solidFill>
              <a:srgbClr val="FFC61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47983" y="5541264"/>
            <a:ext cx="98960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8BCE0"/>
                </a:solidFill>
                <a:latin typeface="Segoe UI"/>
              </a:rPr>
              <a:t>A refusal appears because the gate refused, and it carries the reason it gave.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alpaca-trade-intelli.vercel.app  —  read-only, rendered from the audit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THE PUBLIC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Approved, </a:t>
            </a:r>
            <a:r>
              <a:rPr sz="4000" b="1">
                <a:solidFill>
                  <a:srgbClr val="FFC61A"/>
                </a:solidFill>
                <a:latin typeface="Segoe UI"/>
              </a:rPr>
              <a:t>then one atomic order.</a:t>
            </a:r>
          </a:p>
        </p:txBody>
      </p:sp>
      <p:pic>
        <p:nvPicPr>
          <p:cNvPr id="5" name="Picture 4" descr="p_risk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32" y="2240280"/>
            <a:ext cx="10280705" cy="3118104"/>
          </a:xfrm>
          <a:prstGeom prst="rect">
            <a:avLst/>
          </a:prstGeom>
          <a:ln w="12700">
            <a:solidFill>
              <a:srgbClr val="FFC61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55632" y="5541264"/>
            <a:ext cx="102807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8BCE0"/>
                </a:solidFill>
                <a:latin typeface="Segoe UI"/>
              </a:rPr>
              <a:t>12 contracts, 1.98% of equity, Kelly-sized — then a single multi-leg order 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Sizing is computed in Python. The model never sees a dollar figure it can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LIVE VS. 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Three models. </a:t>
            </a:r>
            <a:r>
              <a:rPr sz="4000" b="1">
                <a:solidFill>
                  <a:srgbClr val="FFC61A"/>
                </a:solidFill>
                <a:latin typeface="Segoe UI"/>
              </a:rPr>
              <a:t>Three answers.</a:t>
            </a:r>
          </a:p>
        </p:txBody>
      </p:sp>
      <p:pic>
        <p:nvPicPr>
          <p:cNvPr id="5" name="Picture 4" descr="p_shadow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94560"/>
            <a:ext cx="10765505" cy="2927309"/>
          </a:xfrm>
          <a:prstGeom prst="rect">
            <a:avLst/>
          </a:prstGeom>
          <a:ln w="12700">
            <a:solidFill>
              <a:srgbClr val="FFC61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13232" y="5304749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8BCE0"/>
                </a:solidFill>
                <a:latin typeface="Segoe UI"/>
              </a:rPr>
              <a:t>Full reasoning, nothing truncated. Only Groq can act on any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They disagreed on 45% of cycles. That is the number worth taking away.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WHAT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AFAFA"/>
                </a:solidFill>
                <a:latin typeface="Segoe UI"/>
              </a:rPr>
              <a:t>The P&amp;L is negative. </a:t>
            </a:r>
            <a:r>
              <a:rPr sz="4000" b="1">
                <a:solidFill>
                  <a:srgbClr val="FFC61A"/>
                </a:solidFill>
                <a:latin typeface="Segoe UI"/>
              </a:rPr>
              <a:t>Here is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5222732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496312"/>
            <a:ext cx="44546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C61A"/>
                </a:solidFill>
                <a:latin typeface="Segoe UI"/>
              </a:rPr>
              <a:t>A units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4546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The label is P(3-day return &gt; +0.5%), whose base rate is 0.40–0.49. The rulebook read 0.50 as neutral, so the bullish branch never fired.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6004" y="2148840"/>
            <a:ext cx="5222732" cy="2651760"/>
          </a:xfrm>
          <a:prstGeom prst="roundRect">
            <a:avLst>
              <a:gd name="adj" fmla="val 5000"/>
            </a:avLst>
          </a:prstGeom>
          <a:solidFill>
            <a:srgbClr val="0B1F4E"/>
          </a:solidFill>
          <a:ln w="12700">
            <a:solidFill>
              <a:srgbClr val="274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40052" y="2496312"/>
            <a:ext cx="44546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C61A"/>
                </a:solidFill>
                <a:latin typeface="Segoe UI"/>
              </a:rPr>
              <a:t>An untrusted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0052" y="3108960"/>
            <a:ext cx="44546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A8BCE0"/>
                </a:solidFill>
                <a:latin typeface="Segoe UI"/>
              </a:rPr>
              <a:t>IV rank looked authoritative before it had earned it. The gate refused 22 premium sales on it — which would probably have made money.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897880"/>
            <a:ext cx="50292" cy="40233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897880"/>
            <a:ext cx="105277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FC61A"/>
                </a:solidFill>
                <a:latin typeface="Segoe UI"/>
              </a:rPr>
              <a:t>Both halves are in the write-up. The gate held; the rulebook it enforced was wrong.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61A"/>
                </a:solidFill>
                <a:latin typeface="Segoe UI"/>
              </a:rPr>
              <a:t>WHAT IT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1076550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AFAFA"/>
                </a:solidFill>
                <a:latin typeface="Segoe UI"/>
              </a:rPr>
              <a:t>Instrumentation </a:t>
            </a:r>
            <a:r>
              <a:rPr sz="4600" b="1">
                <a:solidFill>
                  <a:srgbClr val="FFC61A"/>
                </a:solidFill>
                <a:latin typeface="Segoe UI"/>
              </a:rPr>
              <a:t>&gt;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00400"/>
            <a:ext cx="1076550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A8BCE0"/>
                </a:solidFill>
                <a:latin typeface="Segoe UI"/>
              </a:rPr>
              <a:t>Every failure above was invisible until it was logged, cross-compared and validated. The reliability of this system is a property of its observability.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892040"/>
            <a:ext cx="2834640" cy="20116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230368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8BCE0"/>
                </a:solidFill>
                <a:latin typeface="Segoe UI"/>
              </a:rPr>
              <a:t>Rafan Ahamad Sheik    ·    Prateek D Shriyan    ·    Team AAF11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705856"/>
            <a:ext cx="107655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C61A"/>
                </a:solidFill>
                <a:latin typeface="Consolas"/>
              </a:rPr>
              <a:t>alpaca-trade-intelli.vercel.app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